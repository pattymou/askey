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 charset="0"/>
      <p:regular r:id="rId15"/>
      <p:bold r:id="rId16"/>
      <p:italic r:id="rId17"/>
      <p:boldItalic r:id="rId18"/>
    </p:embeddedFont>
    <p:embeddedFont>
      <p:font typeface="Inter SemiBold" charset="0"/>
      <p:regular r:id="rId19"/>
      <p:bold r:id="rId20"/>
      <p:italic r:id="rId21"/>
      <p:boldItalic r:id="rId22"/>
    </p:embeddedFont>
    <p:embeddedFont>
      <p:font typeface="JetBrains Mono SemiBold" charset="0"/>
      <p:regular r:id="rId23"/>
      <p:bold r:id="rId24"/>
      <p:italic r:id="rId25"/>
      <p:boldItalic r:id="rId26"/>
    </p:embeddedFont>
    <p:embeddedFont>
      <p:font typeface="Calibri" pitchFamily="34" charset="0"/>
      <p:regular r:id="rId27"/>
      <p:bold r:id="rId28"/>
      <p:italic r:id="rId29"/>
      <p:boldItalic r:id="rId30"/>
    </p:embeddedFont>
    <p:embeddedFont>
      <p:font typeface="Inter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7D8704F-1719-4F0E-BFA4-095C0D2E1334}">
  <a:tblStyle styleId="{77D8704F-1719-4F0E-BFA4-095C0D2E133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264" y="-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74057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79515"/>
            <a:ext cx="11029950" cy="44380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2434679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AI-Driven Network Test Automation Platform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149054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整合 AI 與軟體架構的通訊設備自動化測試提案 (v1.0)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179540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Presenter: Patty Lu  |  Next-Gen NetOps Platform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14748"/>
            <a:ext cx="5324475" cy="260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14748"/>
            <a:ext cx="5324475" cy="260002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76300" y="2810023"/>
            <a:ext cx="497062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現況與痛點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76300" y="3257698"/>
            <a:ext cx="47339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❌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腳本孤島化：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每增一個測試設備就需寫一套新 Script，重用性極低。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76300" y="3859559"/>
            <a:ext cx="47339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❌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維護成本高：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邏輯與連線程式高度耦合，設備異動時需大規模重構。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76300" y="4461420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❌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非結構化流程：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無法使用自然語言下達指令，操作門檻過高。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2810023"/>
            <a:ext cx="497062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平台化目標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3257698"/>
            <a:ext cx="4733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✅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單一入口代理：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統一收發與調配所有測試指令。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81775" y="3615779"/>
            <a:ext cx="47339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✅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Plugin 擴充架構：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新設備只需開發對應 Plugin，其餘核心架構完全共用。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81775" y="4217640"/>
            <a:ext cx="47339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✅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 自然語言整合：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透過 OpenClaw / LLM 直覺化調度，無縫轉換標準指令。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83859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8385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Why Change? 痛點與轉型願景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825" y="3304133"/>
            <a:ext cx="13430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33675" y="3304133"/>
            <a:ext cx="18192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57775" y="3304133"/>
            <a:ext cx="20288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91425" y="3304133"/>
            <a:ext cx="19907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86975" y="3304133"/>
            <a:ext cx="12192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557712" y="2744092"/>
            <a:ext cx="3076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使用者輸入：『幫我切 Band5 10MHz』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2286000" y="4313783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此分層架構確保 </a:t>
            </a: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 界面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、</a:t>
            </a: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意圖解析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、</a:t>
            </a: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平台核心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與 </a:t>
            </a:r>
            <a:r>
              <a:rPr lang="en-US" sz="11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硬體插件</a:t>
            </a: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互不干涉。各模組具備「單一職責」，不再由單一程式包山包海，確保符合現代軟體開發最佳實踐。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85850" y="3447008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247775" y="3656558"/>
            <a:ext cx="6191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對話介面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19350" y="3523208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933700" y="344700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3328987" y="3656558"/>
            <a:ext cx="6286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自然語言解析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43450" y="3523208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257800" y="3447008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57862" y="3656558"/>
            <a:ext cx="6286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平台唯一入口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77100" y="3523208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91450" y="344700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8191500" y="3656558"/>
            <a:ext cx="7905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LTE 設定修改器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72650" y="3523208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287000" y="344700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10296525" y="3656558"/>
            <a:ext cx="800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實體/虛擬測試台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到設備調度流程：以切換 LTE Band 為例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87079"/>
            <a:ext cx="3549699" cy="2455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224" y="2587079"/>
            <a:ext cx="3549699" cy="2455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2587079"/>
            <a:ext cx="3549699" cy="245536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19150" y="3387179"/>
            <a:ext cx="322712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AI &amp; Parser 層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19150" y="3806279"/>
            <a:ext cx="30734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OpenClaw / Command Parser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19150" y="4095750"/>
            <a:ext cx="3073449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接收自然語言輸入，識別使用者的操作意圖(Intent)。解析出 Cell、Band 或 Bandwidth 等關鍵參數，轉化成標準 JSON 格式。本層與底層連線協議完全隔離。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4559349" y="3387179"/>
            <a:ext cx="322712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Core Dispatcher 層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559349" y="3806279"/>
            <a:ext cx="30734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callbox_agent.py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559349" y="4095750"/>
            <a:ext cx="3073449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整個平台的唯一入口。負責接受標準 Command JSON，執行分發路由(Dispatch)呼叫對應的設備 Plugin，最後返回標準的回應狀態。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299549" y="3387179"/>
            <a:ext cx="322712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 Plugin / Controller 層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299549" y="3806279"/>
            <a:ext cx="30734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Amarisoft Plugin &amp; Controller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299549" y="4095750"/>
            <a:ext cx="3073449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底層驅動。Plugins 負責修改 AutoConfig 配置與 LTE 流程控制；SSH Controller 則共用作遠端命令執行。真正解耦「設備控制」與「系統逻辑」。</a:t>
            </a:r>
            <a:endParaRPr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86330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9349" y="286330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99549" y="286330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分層職職架構規劃 (Single Responsibility)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" name="Google Shape;163;p17"/>
          <p:cNvGraphicFramePr/>
          <p:nvPr/>
        </p:nvGraphicFramePr>
        <p:xfrm>
          <a:off x="581025" y="2169169"/>
          <a:ext cx="11029925" cy="3291150"/>
        </p:xfrm>
        <a:graphic>
          <a:graphicData uri="http://schemas.openxmlformats.org/drawingml/2006/table">
            <a:tbl>
              <a:tblPr firstRow="1" bandRow="1">
                <a:noFill/>
                <a:tableStyleId>{77D8704F-1719-4F0E-BFA4-095C0D2E1334}</a:tableStyleId>
              </a:tblPr>
              <a:tblGrid>
                <a:gridCol w="2757475"/>
                <a:gridCol w="6066375"/>
                <a:gridCol w="2206075"/>
              </a:tblGrid>
              <a:tr h="54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檔案名稱</a:t>
                      </a:r>
                      <a:r>
                        <a:rPr lang="en-US" sz="1200" b="0" i="0" u="none" strike="noStrike" cap="none" dirty="0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(Files)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模組核心職責說明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平台架構重用性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54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PROMPT.md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規範 AI 行為規則，決定如何理解、對齊使用者的通訊控制需求。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✅ 跨設備通用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</a:tr>
              <a:tr h="54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command_parser.py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將「自然語言」解析並轉換為系統定義的「標準 Command」。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✅ 跨設備通用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</a:tr>
              <a:tr h="54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callbox_agent.py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系統唯一 Entry Point，負責核心指令 Dispatch 到對應插件。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✅ 跨設備通用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</a:tr>
              <a:tr h="54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apply_lte_to_callbox.py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Amarisoft</a:t>
                      </a:r>
                      <a:r>
                        <a:rPr lang="en-US" sz="1200" b="0" i="0" u="none" strike="noStrike" cap="none" dirty="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LTE </a:t>
                      </a:r>
                      <a:r>
                        <a:rPr lang="en-US" sz="1200" b="0" i="0" u="none" strike="noStrike" cap="none" dirty="0" err="1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專屬流程控制、重啟、與配置檔驗證核心邏輯</a:t>
                      </a:r>
                      <a:r>
                        <a:rPr lang="en-US" sz="1200" b="0" i="0" u="none" strike="noStrike" cap="none" dirty="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。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❌ 設備專用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</a:tr>
              <a:tr h="54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ssh_controller.py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實現與硬體端通用 SSH、SCP 傳輸與遠端 Shell 指令封裝。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✅ 跨設備通用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17"/>
          <p:cNvSpPr/>
          <p:nvPr/>
        </p:nvSpPr>
        <p:spPr>
          <a:xfrm>
            <a:off x="581025" y="2670125"/>
            <a:ext cx="275748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3338512" y="2670125"/>
            <a:ext cx="606638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9404895" y="2670125"/>
            <a:ext cx="220607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81025" y="3238648"/>
            <a:ext cx="2757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3338512" y="3238648"/>
            <a:ext cx="60663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9404895" y="3238648"/>
            <a:ext cx="220607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81025" y="3792884"/>
            <a:ext cx="2757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3338512" y="3792884"/>
            <a:ext cx="60663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9404895" y="3792884"/>
            <a:ext cx="220607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581025" y="4347120"/>
            <a:ext cx="2757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3338512" y="4347120"/>
            <a:ext cx="60663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9404895" y="4347120"/>
            <a:ext cx="220607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81025" y="4901356"/>
            <a:ext cx="2757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338512" y="4901356"/>
            <a:ext cx="60663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9404895" y="4901356"/>
            <a:ext cx="220607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19112" y="2832050"/>
            <a:ext cx="914400" cy="278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9112" y="3386286"/>
            <a:ext cx="914400" cy="278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9112" y="3940522"/>
            <a:ext cx="914400" cy="278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76262" y="4494758"/>
            <a:ext cx="800100" cy="278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9112" y="5048994"/>
            <a:ext cx="914400" cy="27801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檔案對應職責與重用性分析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88865"/>
            <a:ext cx="5324475" cy="245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88865"/>
            <a:ext cx="5324475" cy="245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3687960"/>
            <a:ext cx="473392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687960"/>
            <a:ext cx="473392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876300" y="2884140"/>
            <a:ext cx="497062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傳統的單一 Script 作法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76300" y="3331815"/>
            <a:ext cx="47339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當測試需求擴展時，邏輯交織極難維護：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581775" y="2884140"/>
            <a:ext cx="497062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擴充架構 (Platform Plugin)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581775" y="3331815"/>
            <a:ext cx="47339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callbox_agent 統一對外，下接可自由抽換的 Plugins：</a:t>
            </a:r>
            <a:endParaRPr/>
          </a:p>
        </p:txBody>
      </p:sp>
      <p:pic>
        <p:nvPicPr>
          <p:cNvPr id="199" name="Google Shape;19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291271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291271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Why Platform? 我們不是在做單一 Script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81237"/>
            <a:ext cx="53244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1218158" y="2752725"/>
            <a:ext cx="771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PROMPT.md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2170658" y="2752725"/>
            <a:ext cx="1285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AI 意圖理解規則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218158" y="2967037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callbox_agent.py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2770733" y="2967037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平台唯一入口 &amp; 路由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218158" y="3181350"/>
            <a:ext cx="14573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command_parser.py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2856458" y="3181350"/>
            <a:ext cx="1314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自然語言解析模組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218158" y="3395662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plugins/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1405086" y="3609975"/>
            <a:ext cx="857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amarisoft/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1592014" y="3824287"/>
            <a:ext cx="19716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apply_lte_to_callbox.py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1592014" y="4038600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lte_config_modifier.py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1592014" y="4252912"/>
            <a:ext cx="771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status.py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218158" y="4467225"/>
            <a:ext cx="942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controller/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1405086" y="4681537"/>
            <a:ext cx="14573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ssh_controller.py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3043386" y="4681537"/>
            <a:ext cx="1314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通用遠端連接驅動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218158" y="489585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callbox_settings.json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3199358" y="4895850"/>
            <a:ext cx="14573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設備與遠端路徑設定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6286500" y="2688133"/>
            <a:ext cx="559069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設計亮點說明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6286500" y="3135808"/>
            <a:ext cx="53244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🔍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模組極度解耦：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核心(Core)、插件(Plugins)與協議控制器(Controller)物理隔離。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286500" y="3737669"/>
            <a:ext cx="53244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🔍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未來無痛擴展：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未來新增 iPerf, CA, 或 NR 時，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callbox_agent 框架不需重寫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。僅需於 plugins 下新建目錄即可即插即用。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286500" y="4339530"/>
            <a:ext cx="53244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🔍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設定外部化：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設備變更時不需修改程式，僅調整 callbox_settings.json 即可完工。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平台專案目錄結構設計藍圖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581025" y="2989064"/>
            <a:ext cx="559069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精簡 Prompt，降低 AI 幻覺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581025" y="3436739"/>
            <a:ext cx="53244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將複雜的自然語言解析與硬體約束判定「交給 Python 原生邏輯處理」(command_parser.py)，而不是寫進複雜的 Prompt。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581025" y="4038600"/>
            <a:ext cx="53244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這可以讓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 模型的 System Prompt 保持簡單乾淨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，顯著降低推論成本(Context Limit)與回傳延遲，更能杜絕 AI 回傳錯誤結構或幻覺指令的問題。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286500" y="2989064"/>
            <a:ext cx="559069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多前端共用解析核心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286500" y="3436739"/>
            <a:ext cx="53244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我們開發的解析核心不限於特定的對話視窗。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6286500" y="3794819"/>
            <a:ext cx="53244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未來不論是整合到專屬的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OpenClaw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、公司既有的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MCP Client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或是未來的 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MCP Server Platform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，都能引入同一個 command_parser.py。確保「同套自然語言，在所有入口均有同等精準的執行結果」。</a:t>
            </a:r>
            <a:endParaRPr/>
          </a:p>
        </p:txBody>
      </p:sp>
      <p:pic>
        <p:nvPicPr>
          <p:cNvPr id="242" name="Google Shape;24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17639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01763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Why Command Parser First? 先行開發優勢</a:t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/>
          <p:nvPr/>
        </p:nvSpPr>
        <p:spPr>
          <a:xfrm>
            <a:off x="581025" y="3482429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1735038" y="33871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517605" y="3806279"/>
            <a:ext cx="266361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1. Modify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581025" y="4082504"/>
            <a:ext cx="25367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修改 AutoConfig.cfg 模板並編譯新 Config 產物。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4566046" y="33871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3348614" y="3806279"/>
            <a:ext cx="266361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2. Upload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3412033" y="4082504"/>
            <a:ext cx="25367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使用 SSH Controller 自動透過 SCP 傳輸設定至遠端 Callbox。</a:t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7397055" y="33871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179622" y="3806279"/>
            <a:ext cx="266361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3. Restart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243042" y="4082504"/>
            <a:ext cx="25367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透過遠端 Linux CLI 重啟 eNB LTE 等相關測試 Service。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10228064" y="33871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9010631" y="3806279"/>
            <a:ext cx="266361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4. Verify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9074050" y="4082504"/>
            <a:ext cx="25367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連線驗證 symlink、Service 運行狀態並回報 JSON 結果。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Amarisoft 插件內部自動化流</a:t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/>
          <p:nvPr/>
        </p:nvSpPr>
        <p:spPr>
          <a:xfrm>
            <a:off x="581025" y="3468141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1735038" y="33728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517605" y="3791991"/>
            <a:ext cx="266361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v1.0 - Amarisoft Demo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581025" y="4068216"/>
            <a:ext cx="25367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實現「自然語言切頻段」的核心 Demo 框架（已完成）。</a:t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4566046" y="33728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3348614" y="3791991"/>
            <a:ext cx="266361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v1.1 - 核心插件擴充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3412033" y="4096791"/>
            <a:ext cx="25367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新增 iPerf 頻寬測試模組與 Log Analyzer 日誌即時解析。</a:t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7397055" y="33728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6179622" y="3791991"/>
            <a:ext cx="266361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v2.0 - MCP Platform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6243042" y="4068216"/>
            <a:ext cx="25367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將整個自動化架構打包為標準 MCP 服務器。</a:t>
            </a:r>
            <a:endParaRPr/>
          </a:p>
        </p:txBody>
      </p:sp>
      <p:sp>
        <p:nvSpPr>
          <p:cNvPr id="281" name="Google Shape;281;p22"/>
          <p:cNvSpPr/>
          <p:nvPr/>
        </p:nvSpPr>
        <p:spPr>
          <a:xfrm>
            <a:off x="10228064" y="33728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9010631" y="3791991"/>
            <a:ext cx="266361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v3.0 - AI Test Agent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9074050" y="4068216"/>
            <a:ext cx="25367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結合 LLM 達成全自動回歸測試與異常根因分析。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演進時程與版本規劃 (Roadmap)</a:t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67123"/>
            <a:ext cx="5324475" cy="264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67123"/>
            <a:ext cx="5324475" cy="264765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828675" y="2714773"/>
            <a:ext cx="507063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關鍵風險與控制策略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828675" y="3162448"/>
            <a:ext cx="48291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⚠️ </a:t>
            </a:r>
            <a:r>
              <a:rPr lang="en-US" sz="10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風險一：不同物理硬體指令存在差異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828675" y="3490019"/>
            <a:ext cx="48291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💡 </a:t>
            </a:r>
            <a:r>
              <a:rPr lang="en-US" sz="97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對策：</a:t>
            </a: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透過「Plugin 隔離層」，所有特定指令與配置邏輯限縮於 Plugin 目錄中，絕對不污染 callbox_agent 核心程式。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828675" y="4029075"/>
            <a:ext cx="48291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⚠️ </a:t>
            </a:r>
            <a:r>
              <a:rPr lang="en-US" sz="10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風險二：AI 生成指令偏差 (幻覺)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828675" y="4356645"/>
            <a:ext cx="48291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💡 </a:t>
            </a:r>
            <a:r>
              <a:rPr lang="en-US" sz="97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對策：</a:t>
            </a: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建立 Validation 回圈。指令送入實體執行前，皆須通過 command_parser 與狀態檢驗器的合法值檢查。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6534150" y="2714773"/>
            <a:ext cx="507063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未來展望與結論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534150" y="3162448"/>
            <a:ext cx="48291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本專案的戰略高度在於</a:t>
            </a:r>
            <a:r>
              <a:rPr lang="en-US" sz="11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「建立一個具備高度重用與擴充力的 NetworkAutomation Platform」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，而非撰寫一次性的「Amarisoft 操作腳本」。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6534150" y="3962548"/>
            <a:ext cx="48291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藉由 v1.0 架構的成功落地與高解耦檔案職責拆分，將為整個研發團隊奠定「AI 操作實體通訊設備」的穩固基石。</a:t>
            </a:r>
            <a:endParaRPr/>
          </a:p>
        </p:txBody>
      </p:sp>
      <p:pic>
        <p:nvPicPr>
          <p:cNvPr id="301" name="Google Shape;30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274334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743348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3"/>
          <p:cNvSpPr txBox="1"/>
          <p:nvPr/>
        </p:nvSpPr>
        <p:spPr>
          <a:xfrm>
            <a:off x="723900" y="485775"/>
            <a:ext cx="11431428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Risk Control &amp; Next Steps</a:t>
            </a: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581025" y="485775"/>
            <a:ext cx="47625" cy="438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305276" y="2334666"/>
            <a:ext cx="11581447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581025" y="3399532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NetworkAutomation Platform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581025" y="4165252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AI-Driven Automation Roadmap v1.0 Proposal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自訂</PresentationFormat>
  <Paragraphs>112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0" baseType="lpstr">
      <vt:lpstr>Arial</vt:lpstr>
      <vt:lpstr>新細明體</vt:lpstr>
      <vt:lpstr>JetBrains Mono</vt:lpstr>
      <vt:lpstr>Inter SemiBold</vt:lpstr>
      <vt:lpstr>JetBrains Mono SemiBold</vt:lpstr>
      <vt:lpstr>Calibri</vt:lpstr>
      <vt:lpstr>Inter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Administrator</cp:lastModifiedBy>
  <cp:revision>1</cp:revision>
  <dcterms:modified xsi:type="dcterms:W3CDTF">2026-07-08T01:04:11Z</dcterms:modified>
</cp:coreProperties>
</file>